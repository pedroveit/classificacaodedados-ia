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Abordagem 1</c:v>
                </c:pt>
              </c:strCache>
            </c:strRef>
          </c:tx>
          <c:spPr>
            <a:solidFill>
              <a:srgbClr val="4C7EA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kNN</c:v>
                  </c:pt>
                  <c:pt idx="1">
                    <c:v>Árvore Decisão</c:v>
                  </c:pt>
                  <c:pt idx="2">
                    <c:v>MLP</c:v>
                  </c:pt>
                  <c:pt idx="3">
                    <c:v>Random Forest</c:v>
                  </c:pt>
                  <c:pt idx="4">
                    <c:v>SVM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0.766</c:v>
                </c:pt>
                <c:pt idx="1">
                  <c:v>0.621</c:v>
                </c:pt>
                <c:pt idx="2">
                  <c:v>0.629</c:v>
                </c:pt>
                <c:pt idx="3">
                  <c:v>0.823</c:v>
                </c:pt>
                <c:pt idx="4">
                  <c:v>0.815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Abordagem 2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kNN</c:v>
                  </c:pt>
                  <c:pt idx="1">
                    <c:v>Árvore Decisão</c:v>
                  </c:pt>
                  <c:pt idx="2">
                    <c:v>MLP</c:v>
                  </c:pt>
                  <c:pt idx="3">
                    <c:v>Random Forest</c:v>
                  </c:pt>
                  <c:pt idx="4">
                    <c:v>SVM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0.968</c:v>
                </c:pt>
                <c:pt idx="1">
                  <c:v>0.968</c:v>
                </c:pt>
                <c:pt idx="2">
                  <c:v>0.968</c:v>
                </c:pt>
                <c:pt idx="3">
                  <c:v>0.968</c:v>
                </c:pt>
                <c:pt idx="4">
                  <c:v>0.968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B57"/>
                </a:solidFill>
              </a:rPr>
              <a:t>Jogo da Velha com ML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A5A"/>
                </a:solidFill>
              </a:rPr>
              <a:t>Classificação do estado do tabuleiro: Tem jogo · X venceu · O venceu · Empate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Trabalho T1 — Inteligência Artificial — PUCRS — Profa. Silvia Moraes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Código do grupo: 32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[Nome(s) da dupla]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</a:rPr>
              <a:t>Objetivo: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</a:rPr>
              <a:t>construir uma IA classificadora de estados do jogo da velha (não uma jogadora), que recebe um tabuleiro 3x3 e diz se: há jogo em andamento, X venceu, O venceu, ou empate.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</a:rPr>
              <a:t>Escopo do trabalho: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</a:rPr>
              <a:t>construção do dataset, duas abordagens de pré-processamento, comparação de 5 algoritmos classificadores (kNN, Árvore de Decisão, MLP + 2 de livre escolha), e um front end mínimo jogável.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Introdução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— problema encontrado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7EA8"/>
                </a:solidFill>
              </a:rPr>
              <a:t>Dataset bruto: UCI Tic-Tac-Toe Endgame (958 tabuleiros)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Só contém tabuleiros de FINAL de jogo (nenhum "tem jogo").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Rótulo original é binário: "X venceu" vs. "não" — não separa O venceu de Empate.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B0413E"/>
                </a:solidFill>
              </a:rPr>
              <a:t>Conclusão: o dataset bruto NÃO atende plenamente ao problema de 4 classes.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Dataset (1/2)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— adequações realizadas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22222"/>
                </a:solidFill>
              </a:rPr>
              <a:t>1. Relabel: 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22222"/>
                </a:solidFill>
              </a:rPr>
              <a:t>recomputamos o estado real de cada tabuleiro com lógica de jogo própria (não confiamos no rótulo binário original).
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22222"/>
                </a:solidFill>
              </a:rPr>
              <a:t>2. Aumento de dados por simetria (grupo D4): 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22222"/>
                </a:solidFill>
              </a:rPr>
              <a:t>aplicado à classe "empate" (só 16 exemplos). Resultado: 16 -&gt; 16 — descobrimos que só existem 16 empates possíveis em TODO o jogo da velha (2 formas x 8 simetrias).
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22222"/>
                </a:solidFill>
              </a:rPr>
              <a:t>3. Geração sintética: 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22222"/>
                </a:solidFill>
              </a:rPr>
              <a:t>a classe "tem_jogo" não existe no dataset bruto; geramos 200 tabuleiros simulando partidas aleatórias interrompidas antes do fim.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Dataset (2/2)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final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71600"/>
          <a:ext cx="10515600" cy="237744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Classe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Qtd. exemplos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Origem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x_venceu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200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amostra do dataset bruto (626 disponíveis)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o_venceu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200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amostra do dataset bruto (316 disponíveis)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tem_jogo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200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gerado sinteticamente (0 disponíveis no bruto)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empate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16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TODOS os empates possíveis no jogo (limite teórico)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22960" y="4023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</a:rPr>
              <a:t>Total: 616 tabuleiros. Classe "empate" ficou abaixo da meta de 200 por limitação do próprio jogo, não do processo de amostragem.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Dataset final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Pré-processamento — 2 abordagens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7EA8"/>
                </a:solidFill>
              </a:rPr>
              <a:t>Abordagem 1 — tabuleiro bruto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9 features: uma por casa do tabuleiro.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Mapeamento numérico: vazio=0, x=1, o=2.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Limitação: a codificação inteira introduz uma ordem artificial entre os símbolos.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143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7EA8"/>
                </a:solidFill>
              </a:rPr>
              <a:t>Abordagem 2 — 7 features de alto nível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qtd. de X, qtd. de O, posições ocupadas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nº de linhas com 2 X, nº de linhas com 2 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nº de casas vazias, jogador da vez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Pré-processamento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Divisão treino / validação / teste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Split estratificado 60% / 20% / 20%, com seed fixa (32).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Mesmo split usado nas duas abordagens (chave: id do tabuleiro) — condição do enunciado, já que vários algoritmos são comparados.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Validação: escolhe hiperparâmetros de cada algoritmo. Teste: nunca usado até a avaliação final.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291840"/>
          <a:ext cx="45720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Conjunto</a:t>
                      </a:r>
                      <a:endParaRPr lang="en-US" sz="15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5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Treino</a:t>
                      </a:r>
                      <a:endParaRPr lang="en-US" sz="15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369 (60%)</a:t>
                      </a:r>
                      <a:endParaRPr lang="en-US" sz="15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Validação</a:t>
                      </a:r>
                      <a:endParaRPr lang="en-US" sz="15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123 (20%)</a:t>
                      </a:r>
                      <a:endParaRPr lang="en-US" sz="15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Teste</a:t>
                      </a:r>
                      <a:endParaRPr lang="en-US" sz="15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124 (20%)</a:t>
                      </a:r>
                      <a:endParaRPr lang="en-US" sz="15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Divisão do dataset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comparados (5)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420624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Algoritmo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Tipo / observação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k-NN (obrigatório)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classifica pela maioria dos k vizinhos mais próximos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Árvore de Decisão (obrigatório)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sequência de perguntas sobre as features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MLP (obrigatório)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rede neural com camada(s) oculta(s) — topologias testadas: (8), (16), (16,8), (32,16)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Random Forest (livre escolha)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ensemble de várias árvores treinadas em subamostras (bagging); voto majoritário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SVM (livre escolha)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busca a fronteira (kernel RBF) que maximiza a margem entre as classes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Algoritmos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no conjunto de teste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438912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Abordagem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Algoritmo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Acurácia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 (macro)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Abordagem 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kNN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76,6%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0,769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Abordagem 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Árvore de Decisão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62,1%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0,483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Abordagem 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MLP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62,9%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0,552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Abordagem 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82,3%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0,624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Abordagem 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SVM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81,5%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0,740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</a:rPr>
                        <a:t>Abordagem 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</a:rPr>
                        <a:t>kNN / Árvore / MLP / RF / SVM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5B"/>
                          </a:solidFill>
                        </a:rPr>
                        <a:t>96,8%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</a:rPr>
                        <a:t>0,735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Resultados (1/2)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visual — acurácia por algoritmo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110642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Resultados (2/2)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Discussão: por que a Abordagem 2 saturou em 96,8%?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22222"/>
                </a:solidFill>
              </a:rPr>
              <a:t>Achado: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</a:rPr>
              <a:t>TODOS os 5 algoritmos da abordagem 2 erraram exatamente os MESMOS 4 tabuleiros de teste (3 empates + 1 tem_jogo, classificados como x_venceu).
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22222"/>
                </a:solidFill>
              </a:rPr>
              <a:t>Explicação: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</a:rPr>
              <a:t>as features "linhas com 2 X" / "linhas com 2 O" (exigidas pelo enunciado) contam quase-linhas, mas nenhuma feature informa diretamente "há uma linha COMPLETA". Por isso, tabuleiros cheios/quase cheios com contagens iguais de X, O e vazios ficam indistinguíveis entre si — é uma limitação estrutural do conjunto de features, não dos algoritmos.
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22222"/>
                </a:solidFill>
              </a:rPr>
              <a:t>Conclusão: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</a:rPr>
              <a:t>a Abordagem 2 é claramente melhor em geral (mais barata, generaliza melhor com poucos dados), mas a Abordagem 1 (tabuleiro completo) é a única capaz, em princípio, de atingir 100% — desde que haja dados/profundidade suficientes.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Discussão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escolhido para o Front End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5B"/>
                </a:solidFill>
              </a:rPr>
              <a:t>Árvore de Decisão — Abordagem 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424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Empatou em 1º lugar em acurácia (96,8%) com kNN, MLP, RF e SVM.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Predição instantânea — essencial para responder a cada jogada do front end em tempo real.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Interpretável — dá para inspecionar as regras aprendidas na apresentação.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Usa a abordagem mais barata (7 features) e que generalizou melhor com poucos dados.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Modelo final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Interface em texto (linha de comando).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Humano (X) joga; computador (O) joga de forma aleatória.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 cada jogada, o modelo final classifica o estado e mostra a mensagem correspondente.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Acertos/erros da IA são comparados com a lógica de jogo real (ground truth) e registrados em log a cada partida.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</a:rPr>
              <a:t>[INSERIR aqui] Resultados agregados de N partidas jogadas (gerados automaticamente em reports/log_interacoes_frontend_32.csv): total de jogadas, acertos, erros e acurácia da IA em uso real.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Front End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7EA8"/>
                </a:solidFill>
              </a:rPr>
              <a:t>Dificuldades encontradas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Dataset bruto incompleto para o problema de 4 classes.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Classe "empate" limitada a 16 exemplos (limite do próprio jogo).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Abordagem 2 tem teto estrutural de acurácia.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143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7EA8"/>
                </a:solidFill>
              </a:rPr>
              <a:t>Ganhos obtidos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Comparação rigorosa de 5 algoritmos x 2 abordagens (10 experimentos).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Entendimento de que engenharia de features pode trocar acurácia máxima por eficiência de dados.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Pipeline completo, reprodutível e versionado (Git) do dado bruto ao front end jogável.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Conclusão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de IA usadas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0413E"/>
                </a:solidFill>
              </a:rPr>
              <a:t>[Preencher exatamente onde e como a IA foi usada, conforme exigido no enunciado. Exemplo de estrutura abaixo:]
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</a:rPr>
              <a:t>Claude (Anthropic):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apoio na estruturação do pipeline (dataset, pré-processamento, treino, front end) e na escrita do código-base em Python.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T1 – Jogo da Velha com ML  |  Código 32  |  Ferramentas de 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2026-09-25T15:51:22Z</dcterms:created>
  <dcterms:modified xsi:type="dcterms:W3CDTF">2026-09-25T15:51:22Z</dcterms:modified>
</cp:coreProperties>
</file>